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5FD9"/>
                </a:solidFill>
                <a:latin typeface="Helvetica Neue"/>
              </a:rPr>
              <a:t>COMPUTER-USE AUTOMATION  ·  BUILD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2880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A1A1A"/>
                </a:solidFill>
                <a:latin typeface="Helvetica Neue"/>
              </a:rPr>
              <a:t>What the system actually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974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67676"/>
                </a:solidFill>
                <a:latin typeface="Helvetica Neue"/>
              </a:rPr>
              <a:t>An LLM discovers a task on a legacy bank app </a:t>
            </a:r>
            <a:r>
              <a:rPr sz="1500" b="1">
                <a:solidFill>
                  <a:srgbClr val="767676"/>
                </a:solidFill>
                <a:latin typeface="Helvetica Neue"/>
              </a:rPr>
              <a:t>once</a:t>
            </a:r>
            <a:r>
              <a:rPr sz="1500" b="0">
                <a:solidFill>
                  <a:srgbClr val="767676"/>
                </a:solidFill>
                <a:latin typeface="Helvetica Neue"/>
              </a:rPr>
              <a:t>. The run is compiled into a reviewable </a:t>
            </a:r>
            <a:r>
              <a:rPr sz="1500" b="1">
                <a:solidFill>
                  <a:srgbClr val="767676"/>
                </a:solidFill>
                <a:latin typeface="Helvetica Neue"/>
              </a:rPr>
              <a:t>Artifact</a:t>
            </a:r>
            <a:r>
              <a:rPr sz="1500" b="0">
                <a:solidFill>
                  <a:srgbClr val="767676"/>
                </a:solidFill>
                <a:latin typeface="Helvetica Neue"/>
              </a:rPr>
              <a:t>. Thereafter a deterministic </a:t>
            </a:r>
            <a:r>
              <a:rPr sz="1500" b="1">
                <a:solidFill>
                  <a:srgbClr val="767676"/>
                </a:solidFill>
                <a:latin typeface="Helvetica Neue"/>
              </a:rPr>
              <a:t>Replay Engine</a:t>
            </a:r>
            <a:r>
              <a:rPr sz="1500" b="0">
                <a:solidFill>
                  <a:srgbClr val="767676"/>
                </a:solidFill>
                <a:latin typeface="Helvetica Neue"/>
              </a:rPr>
              <a:t> executes it — with no model in the decision loop.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3886200"/>
            <a:ext cx="10058400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60120" y="420624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4297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5FD9"/>
                </a:solidFill>
                <a:latin typeface="Helvetica Neue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47183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5FD9"/>
                </a:solidFill>
                <a:latin typeface="Helvetica Neue"/>
              </a:rPr>
              <a:t>modules in cua/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420624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4297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7450"/>
                </a:solidFill>
                <a:latin typeface="Helvetica Neue"/>
              </a:rPr>
              <a:t>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47183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7450"/>
                </a:solidFill>
                <a:latin typeface="Helvetica Neue"/>
              </a:rPr>
              <a:t>tests, no mocking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420624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5" y="4297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96B06"/>
                </a:solidFill>
                <a:latin typeface="Helvetica Neue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5" y="47183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96B06"/>
                </a:solidFill>
                <a:latin typeface="Helvetica Neue"/>
              </a:rPr>
              <a:t>policy layers, 4 owners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20624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4297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5FD9"/>
                </a:solidFill>
                <a:latin typeface="Helvetica Neu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47183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5FD9"/>
                </a:solidFill>
                <a:latin typeface="Helvetica Neue"/>
              </a:rPr>
              <a:t>tenants, 1 artifact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6692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67676"/>
                </a:solidFill>
                <a:latin typeface="Helvetica Neue"/>
              </a:rPr>
              <a:t>Each slide answers one question about one component. Comparison with the original sketch is on the last two slides.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5FD9"/>
                </a:solidFill>
                <a:latin typeface="Helvetica Neue"/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How does a task become automation?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993392" cy="420624"/>
          </a:xfrm>
          <a:prstGeom prst="roundRect">
            <a:avLst>
              <a:gd name="adj" fmla="val 10000"/>
            </a:avLst>
          </a:prstGeom>
          <a:solidFill>
            <a:srgbClr val="1B7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1  Goal +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03704"/>
            <a:ext cx="1993392" cy="1298448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 Reviewer fixes typed inputs,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outputs and outcome codes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before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discovery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84448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Reviewer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1993392"/>
            <a:ext cx="201168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1783080"/>
            <a:ext cx="1993392" cy="420624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2  Discovery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203704"/>
            <a:ext cx="1993392" cy="1298448"/>
          </a:xfrm>
          <a:prstGeom prst="roundRect">
            <a:avLst>
              <a:gd name="adj" fmla="val 10000"/>
            </a:avLst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LLM proposes one action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per turn against a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non-prod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copy. Code performs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584448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Discovery LLM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4608" y="1993392"/>
            <a:ext cx="201168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02352" y="1783080"/>
            <a:ext cx="1993392" cy="420624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3  Recorder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2352" y="2203704"/>
            <a:ext cx="1993392" cy="1298448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Turns the trace into a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draft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Artifact. Guesses are attached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as suggestions, not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3584448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code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0" y="1993392"/>
            <a:ext cx="201168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70063" y="1783080"/>
            <a:ext cx="1993392" cy="420624"/>
          </a:xfrm>
          <a:prstGeom prst="roundRect">
            <a:avLst>
              <a:gd name="adj" fmla="val 10000"/>
            </a:avLst>
          </a:prstGeom>
          <a:solidFill>
            <a:srgbClr val="1B7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4  Review + Approve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3" y="2203704"/>
            <a:ext cx="1993392" cy="1298448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Decisions file applied; lint +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 verify-replay on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unseen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inputs must pass.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3" y="3584448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2 Reviewers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00031" y="1993392"/>
            <a:ext cx="201169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37776" y="1783080"/>
            <a:ext cx="1993392" cy="420624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5  Replay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37776" y="2203704"/>
            <a:ext cx="1993392" cy="1298448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approved Artifact runs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with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no model at all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. The only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way it runs in production.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3584448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Replay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160520"/>
            <a:ext cx="5349240" cy="114300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Helvetica Neue"/>
              </a:rPr>
              <a:t>The artifact is data, not generated code.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Helvetica Neue"/>
              </a:rPr>
              <a:t>It names actions, predicates and target-finders from closed vocabularies the engine already holds. An artifact cannot express anything else — so no artifact can bypass a guarantee (ADR 0001).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4160520"/>
            <a:ext cx="5349240" cy="114300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Helvetica Neue"/>
              </a:rPr>
              <a:t>Discovery happens once; replay happens forever.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Helvetica Neue"/>
              </a:rPr>
              <a:t>One real discovery run: 13 turns, goal reached. Replay of the same capability then passes all 8 scenario tests deterministically — same flow, no tokens, no variance.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cua/discovery.py · cua/recorder.py · cua/review.py · cua/engine.py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96B06"/>
                </a:solidFill>
                <a:latin typeface="Helvetica Neue"/>
              </a:rPr>
              <a:t>DISCOVERY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What happens on each turn with the model?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72768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Browser / Surface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1975104"/>
            <a:ext cx="0" cy="3008376"/>
          </a:xfrm>
          <a:prstGeom prst="line">
            <a:avLst/>
          </a:prstGeom>
          <a:ln w="15875">
            <a:solidFill>
              <a:srgbClr val="D9D7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31920" y="1572768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Engine + Policy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74920" y="1975104"/>
            <a:ext cx="0" cy="3008376"/>
          </a:xfrm>
          <a:prstGeom prst="line">
            <a:avLst/>
          </a:prstGeom>
          <a:ln w="15875">
            <a:solidFill>
              <a:srgbClr val="D9D7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75320" y="1572768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Discovery LLM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1975104"/>
            <a:ext cx="0" cy="3008376"/>
          </a:xfrm>
          <a:prstGeom prst="line">
            <a:avLst/>
          </a:prstGeom>
          <a:ln w="15875">
            <a:solidFill>
              <a:srgbClr val="D9D7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4920" y="2331720"/>
            <a:ext cx="4343400" cy="0"/>
          </a:xfrm>
          <a:prstGeom prst="line">
            <a:avLst/>
          </a:prstGeom>
          <a:ln w="19050">
            <a:solidFill>
              <a:srgbClr val="A96B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84648" y="2057400"/>
            <a:ext cx="41239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observation: accessibility list + screenshot, values default-denied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074920" y="2834640"/>
            <a:ext cx="4343400" cy="0"/>
          </a:xfrm>
          <a:prstGeom prst="line">
            <a:avLst/>
          </a:prstGeom>
          <a:ln w="19050">
            <a:solidFill>
              <a:srgbClr val="A96B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84648" y="2560320"/>
            <a:ext cx="41239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one tool call:  type → [4], secret=login_password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417320" y="3840480"/>
            <a:ext cx="3657600" cy="0"/>
          </a:xfrm>
          <a:prstGeom prst="line">
            <a:avLst/>
          </a:prstGeom>
          <a:ln w="19050">
            <a:solidFill>
              <a:srgbClr val="2B5F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27048" y="3566160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perform — secret substituted at the keystroke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7320" y="4343400"/>
            <a:ext cx="3657600" cy="0"/>
          </a:xfrm>
          <a:prstGeom prst="line">
            <a:avLst/>
          </a:prstGeom>
          <a:ln w="19050">
            <a:solidFill>
              <a:srgbClr val="2B5F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27048" y="4069080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new screen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301752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5FD9"/>
                </a:solidFill>
                <a:latin typeface="Helvetica Neue"/>
              </a:rPr>
              <a:t>policy gate: origin · route · action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52044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251E"/>
                </a:solidFill>
                <a:latin typeface="Helvetica Neue"/>
              </a:rPr>
              <a:t>refused → the model is told why, and the turn is spent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67676"/>
                </a:solidFill>
                <a:latin typeface="Helvetica Neue"/>
              </a:rPr>
              <a:t>loop, up to 24 turns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17320" y="4983480"/>
            <a:ext cx="8001000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66928" y="5230368"/>
            <a:ext cx="5532120" cy="10058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Six endings, and the model only picks four.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goal_reached · report_outcome · ask_human · give_up   —   plus step-limit/timeout and stuck-detected, which code decides.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5230368"/>
            <a:ext cx="5349240" cy="10058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What the model never gets.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 secret value · a production environment · a field value whose Target is not a declared Readable Region · the ability to act outside the allowlist.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cua/discovery.py — bounds: 24 turns, 300 s, 60 actions, 3 consecutive failures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5FD9"/>
                </a:solidFill>
                <a:latin typeface="Helvetica Neue"/>
              </a:rPr>
              <a:t>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What exactly is recorded?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1444752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nlo"/>
              </a:rPr>
              <a:t>s1_login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39112" y="1929384"/>
            <a:ext cx="329184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95728" y="1691640"/>
            <a:ext cx="1444752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nlo"/>
              </a:rPr>
              <a:t>s2_search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67912" y="1929384"/>
            <a:ext cx="329184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24528" y="1691640"/>
            <a:ext cx="1444752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nlo"/>
              </a:rPr>
              <a:t>s4_member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96712" y="1929384"/>
            <a:ext cx="329184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53328" y="1691640"/>
            <a:ext cx="1444752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nlo"/>
              </a:rPr>
              <a:t>s5_form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25511" y="1929384"/>
            <a:ext cx="329185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82127" y="1691640"/>
            <a:ext cx="1444752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nlo"/>
              </a:rPr>
              <a:t>s6_review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4311" y="1929384"/>
            <a:ext cx="329185" cy="0"/>
          </a:xfrm>
          <a:prstGeom prst="line">
            <a:avLst/>
          </a:prstGeom>
          <a:ln w="22225">
            <a:solidFill>
              <a:srgbClr val="A825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10928" y="1691640"/>
            <a:ext cx="1444752" cy="475488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 w="12700">
            <a:solidFill>
              <a:srgbClr val="1B7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7450"/>
                </a:solidFill>
                <a:latin typeface="Menlo"/>
              </a:rPr>
              <a:t>s7_done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402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67676"/>
                </a:solidFill>
                <a:latin typeface="Helvetica Neue"/>
              </a:rPr>
              <a:t>each State carries a </a:t>
            </a:r>
            <a:r>
              <a:rPr sz="1000" b="1">
                <a:solidFill>
                  <a:srgbClr val="767676"/>
                </a:solidFill>
                <a:latin typeface="Helvetica Neue"/>
              </a:rPr>
              <a:t>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240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251E"/>
                </a:solidFill>
                <a:latin typeface="Helvetica Neue"/>
              </a:rPr>
              <a:t>this edge is </a:t>
            </a:r>
            <a:r>
              <a:rPr sz="1000" b="1">
                <a:solidFill>
                  <a:srgbClr val="A8251E"/>
                </a:solidFill>
                <a:latin typeface="Helvetica Neue"/>
              </a:rPr>
              <a:t>consequential</a:t>
            </a:r>
            <a:r>
              <a:rPr sz="1000" b="0">
                <a:solidFill>
                  <a:srgbClr val="A8251E"/>
                </a:solidFill>
                <a:latin typeface="Helvetica Neue"/>
              </a:rPr>
              <a:t> — it holds a
Verification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017520"/>
            <a:ext cx="2139696" cy="365760"/>
          </a:xfrm>
          <a:prstGeom prst="roundRect">
            <a:avLst>
              <a:gd name="adj" fmla="val 10000"/>
            </a:avLst>
          </a:prstGeom>
          <a:solidFill>
            <a:srgbClr val="1B7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Contract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83280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3 typed inputs · 2 outputs ·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2 outcome codes. Fixed first,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never inferred from a run.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3017520"/>
            <a:ext cx="2139696" cy="365760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States + Transitions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383280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6 states, 11 transitions.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Actions from a closed set: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click · type · select · read.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017520"/>
            <a:ext cx="2139696" cy="365760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Targets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3792" y="3383280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12 named controls, each with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an ordered ladder of ways to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find it. Never a raw selector.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07223" y="3017520"/>
            <a:ext cx="2139696" cy="365760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Watchers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223" y="3383280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3 here + 4 shared by every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artifact on this app. Each one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carries its provenance.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0655" y="3017520"/>
            <a:ext cx="2139696" cy="365760"/>
          </a:xfrm>
          <a:prstGeom prst="roundRect">
            <a:avLst>
              <a:gd name="adj" fmla="val 10000"/>
            </a:avLst>
          </a:prstGeom>
          <a:solidFill>
            <a:srgbClr val="A82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Needs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0655" y="3383280"/>
            <a:ext cx="2139696" cy="12344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The pages, actions and secrets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the run actually used. Checked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against policy before replay.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983480"/>
            <a:ext cx="11064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A checkpoint never contains a discovery run's literal values, and a lint fails the build if one survives.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run that recorded this used member 54321 and nickname “Holiday fund”. The artifact holds {{member_number}} and {{nickname}}. Two separate defences: the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schema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is a whitelist, so an action like `download` cannot be parsed at all; the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lint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catches artifacts that are well-formed and still wrong — a stray literal, an unreachable outcome, needs outside the declared role, a consequential step with no verification check.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artifacts/open_sub_account.1.0.0.yaml · cua/artifact.py · cua/lint.py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5FD9"/>
                </a:solidFill>
                <a:latin typeface="Helvetica Neue"/>
              </a:rPr>
              <a:t>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How does it find a control on a page with no ids?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475488" cy="731520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9164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5FD9"/>
                </a:solidFill>
                <a:latin typeface="Menlo"/>
              </a:rPr>
              <a:t>role_name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accessibility tree's
computed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7450"/>
                </a:solidFill>
                <a:latin typeface="Helvetica Neue"/>
              </a:rPr>
              <a:t>survives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B7450"/>
                </a:solidFill>
                <a:latin typeface="Helvetica Neue"/>
              </a:rPr>
              <a:t>moving, restyling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7830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8251E"/>
                </a:solidFill>
                <a:latin typeface="Helvetica Neue"/>
              </a:rPr>
              <a:t>breaks 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A8251E"/>
                </a:solidFill>
                <a:latin typeface="Helvetica Neue"/>
              </a:rPr>
              <a:t>a rename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2" y="2450592"/>
            <a:ext cx="0" cy="146304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2624328"/>
            <a:ext cx="475488" cy="731520"/>
          </a:xfrm>
          <a:prstGeom prst="roundRect">
            <a:avLst>
              <a:gd name="adj" fmla="val 10000"/>
            </a:avLst>
          </a:prstGeom>
          <a:solidFill>
            <a:srgbClr val="1B7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624328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7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7450"/>
                </a:solidFill>
                <a:latin typeface="Menlo"/>
              </a:rPr>
              <a:t>label_anchor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15768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visible words plus layout:
“the textbox right of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Member number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1576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7450"/>
                </a:solidFill>
                <a:latin typeface="Helvetica Neue"/>
              </a:rPr>
              <a:t>survives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B7450"/>
                </a:solidFill>
                <a:latin typeface="Helvetica Neue"/>
              </a:rPr>
              <a:t>a control being renamed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71576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8251E"/>
                </a:solidFill>
                <a:latin typeface="Helvetica Neue"/>
              </a:rPr>
              <a:t>breaks 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A8251E"/>
                </a:solidFill>
                <a:latin typeface="Helvetica Neue"/>
              </a:rPr>
              <a:t>the caption moving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4672" y="3383280"/>
            <a:ext cx="0" cy="146304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6928" y="3557016"/>
            <a:ext cx="475488" cy="731520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557016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6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96B06"/>
                </a:solidFill>
                <a:latin typeface="Menlo"/>
              </a:rPr>
              <a:t>picture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648456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 crop saved at record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64845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7450"/>
                </a:solidFill>
                <a:latin typeface="Helvetica Neue"/>
              </a:rPr>
              <a:t>survives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B7450"/>
                </a:solidFill>
                <a:latin typeface="Helvetica Neue"/>
              </a:rPr>
              <a:t>renames and re-layout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64845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8251E"/>
                </a:solidFill>
                <a:latin typeface="Helvetica Neue"/>
              </a:rPr>
              <a:t>breaks 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A8251E"/>
                </a:solidFill>
                <a:latin typeface="Helvetica Neue"/>
              </a:rPr>
              <a:t>re-skinning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463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67676"/>
                </a:solidFill>
                <a:latin typeface="Helvetica Neue"/>
              </a:rPr>
              <a:t>Tried in order. Replay records which rung matched — and stops rather than guessing when none 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17720"/>
            <a:ext cx="5394960" cy="1554480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The demo this exists for.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search control is an `&lt;img&gt;` inside a `&lt;button&gt;` with no alt and no label, so the browser computes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no accessible name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: `get_by_role("button", name="Search")` returns 0 matches. Its recorded ladder has no rung 1 at all, because there was nothing to record. label_anchor “Member number” finds it.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A text-only agent cannot see this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617720"/>
            <a:ext cx="5394960" cy="155448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A Target stores a relationship, never a measurement.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Distances are recomputed from the live page every run, so a re-layout does not invalidate the recording.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Any match below rung 1 is a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Fallback Match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: allowed, always logged, and a rising rate for one tenant is the signal that its app has drifted.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cua/surface.py · docs/targeting.md · tools/demo_b1.py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5FD9"/>
                </a:solidFill>
                <a:latin typeface="Helvetica Neue"/>
              </a:rPr>
              <a:t>REPLAY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What does replay do for a single step?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438912" cy="603504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" y="1572768"/>
            <a:ext cx="50749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Verify before acting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does the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from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state's checkpoint hold?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384" y="2203704"/>
            <a:ext cx="0" cy="13716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99632" y="1874519"/>
            <a:ext cx="612648" cy="0"/>
          </a:xfrm>
          <a:prstGeom prst="line">
            <a:avLst/>
          </a:prstGeom>
          <a:ln w="15875">
            <a:solidFill>
              <a:srgbClr val="A96B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0" y="164592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6B06"/>
                </a:solidFill>
                <a:latin typeface="Helvetica Neue"/>
              </a:rPr>
              <a:t>surprise handler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59152"/>
            <a:ext cx="438912" cy="603504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" y="2359152"/>
            <a:ext cx="50749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Resolve the Target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walk the ladder; record the rung that matched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" y="2990088"/>
            <a:ext cx="0" cy="13716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99632" y="2660904"/>
            <a:ext cx="612648" cy="0"/>
          </a:xfrm>
          <a:prstGeom prst="line">
            <a:avLst/>
          </a:prstGeom>
          <a:ln w="15875">
            <a:solidFill>
              <a:srgbClr val="A825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0" y="2432304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8251E"/>
                </a:solidFill>
                <a:latin typeface="Helvetica Neue"/>
              </a:rPr>
              <a:t>Failed  target_not_found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5536"/>
            <a:ext cx="438912" cy="603504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" y="3145536"/>
            <a:ext cx="50749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Policy check, here and now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this route, this action type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" y="3776472"/>
            <a:ext cx="0" cy="13716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9632" y="3447288"/>
            <a:ext cx="612648" cy="0"/>
          </a:xfrm>
          <a:prstGeom prst="line">
            <a:avLst/>
          </a:prstGeom>
          <a:ln w="15875">
            <a:solidFill>
              <a:srgbClr val="A825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0" y="3218688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8251E"/>
                </a:solidFill>
                <a:latin typeface="Helvetica Neue"/>
              </a:rPr>
              <a:t>Failed  policy_denied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931920"/>
            <a:ext cx="438912" cy="603504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" y="3931920"/>
            <a:ext cx="50749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Risk gate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consequential actions are logged and gated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6384" y="4562856"/>
            <a:ext cx="0" cy="13716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99632" y="4233672"/>
            <a:ext cx="612648" cy="0"/>
          </a:xfrm>
          <a:prstGeom prst="line">
            <a:avLst/>
          </a:prstGeom>
          <a:ln w="15875">
            <a:solidFill>
              <a:srgbClr val="A825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0" y="4005072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8251E"/>
                </a:solidFill>
                <a:latin typeface="Helvetica Neue"/>
              </a:rPr>
              <a:t>Refused  at the front door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18304"/>
            <a:ext cx="438912" cy="603504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0704" y="4718304"/>
            <a:ext cx="50749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Act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click · type · select · read — and nothing else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6384" y="5349240"/>
            <a:ext cx="0" cy="13716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66928" y="5504688"/>
            <a:ext cx="438912" cy="603504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0704" y="5504688"/>
            <a:ext cx="50749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Observe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does the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to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state's checkpoint hold?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99632" y="5806440"/>
            <a:ext cx="612648" cy="0"/>
          </a:xfrm>
          <a:prstGeom prst="line">
            <a:avLst/>
          </a:prstGeom>
          <a:ln w="15875">
            <a:solidFill>
              <a:srgbClr val="A96B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58000" y="557784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6B06"/>
                </a:solidFill>
                <a:latin typeface="Helvetica Neue"/>
              </a:rPr>
              <a:t>surprise handler 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1572768"/>
            <a:ext cx="1572768" cy="457200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5FD9"/>
                </a:solidFill>
                <a:latin typeface="Helvetica Neue"/>
              </a:rPr>
              <a:t>No model.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2B5FD9"/>
                </a:solidFill>
                <a:latin typeface="Helvetica Neue"/>
              </a:rPr>
              <a:t/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2B5FD9"/>
                </a:solidFill>
                <a:latin typeface="Helvetica Neue"/>
              </a:rPr>
              <a:t>Replay calls no LLM at all.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2B5FD9"/>
                </a:solidFill>
                <a:latin typeface="Helvetica Neue"/>
              </a:rPr>
              <a:t/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2B5FD9"/>
                </a:solidFill>
                <a:latin typeface="Helvetica Neue"/>
              </a:rPr>
              <a:t>Every decision is a predicate over the screen, evaluated by code.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2B5FD9"/>
                </a:solidFill>
                <a:latin typeface="Helvetica Neue"/>
              </a:rPr>
              <a:t/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2B5FD9"/>
                </a:solidFill>
                <a:latin typeface="Helvetica Neue"/>
              </a:rPr>
              <a:t>Same inputs, same path, every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cua/engine.py — 11 transitions, a loop guard, and a write-ahead record of every 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96B06"/>
                </a:solidFill>
                <a:latin typeface="Helvetica Neue"/>
              </a:rPr>
              <a:t>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What happens when the screen is not what was expected?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743200" cy="585216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</a:rPr>
              <a:t>checkpoint missed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64992" y="1847088"/>
            <a:ext cx="566928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77639" y="1554480"/>
            <a:ext cx="301752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6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Helvetica Neue"/>
              </a:rPr>
              <a:t>does a </a:t>
            </a:r>
            <a:r>
              <a:rPr sz="1100" b="1">
                <a:solidFill>
                  <a:srgbClr val="1A1A1A"/>
                </a:solidFill>
                <a:latin typeface="Helvetica Neue"/>
              </a:rPr>
              <a:t>Watcher</a:t>
            </a:r>
            <a:r>
              <a:rPr sz="1100" b="0">
                <a:solidFill>
                  <a:srgbClr val="1A1A1A"/>
                </a:solidFill>
                <a:latin typeface="Helvetica Neue"/>
              </a:rPr>
              <a:t> recognise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Helvetica Neue"/>
              </a:rPr>
              <a:t>this screen?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51760"/>
            <a:ext cx="2697480" cy="384048"/>
          </a:xfrm>
          <a:prstGeom prst="roundRect">
            <a:avLst>
              <a:gd name="adj" fmla="val 10000"/>
            </a:avLst>
          </a:prstGeom>
          <a:solidFill>
            <a:srgbClr val="1B7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Business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2697480" cy="10058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the app worked and gave a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legitimate non-happy answer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stop — never retried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15668" y="2194560"/>
            <a:ext cx="3570732" cy="420624"/>
          </a:xfrm>
          <a:prstGeom prst="line">
            <a:avLst/>
          </a:prstGeom>
          <a:ln w="12700">
            <a:solidFill>
              <a:srgbClr val="D9D7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2651760"/>
            <a:ext cx="2697480" cy="384048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Recoverable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3035808"/>
            <a:ext cx="2697480" cy="10058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a dismissible or transient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condition, bounded budget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the system fixes it itself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786884" y="2194560"/>
            <a:ext cx="699516" cy="420624"/>
          </a:xfrm>
          <a:prstGeom prst="line">
            <a:avLst/>
          </a:prstGeom>
          <a:ln w="12700">
            <a:solidFill>
              <a:srgbClr val="D9D7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2651760"/>
            <a:ext cx="2697480" cy="384048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Escalate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35808"/>
            <a:ext cx="2697480" cy="10058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only a person can fix it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during this run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hand the live session over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2194560"/>
            <a:ext cx="2171700" cy="420624"/>
          </a:xfrm>
          <a:prstGeom prst="line">
            <a:avLst/>
          </a:prstGeom>
          <a:ln w="12700">
            <a:solidFill>
              <a:srgbClr val="D9D7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0576" y="2651760"/>
            <a:ext cx="2697480" cy="384048"/>
          </a:xfrm>
          <a:prstGeom prst="roundRect">
            <a:avLst>
              <a:gd name="adj" fmla="val 10000"/>
            </a:avLst>
          </a:prstGeom>
          <a:solidFill>
            <a:srgbClr val="A82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Hard Failure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576" y="3035808"/>
            <a:ext cx="2697480" cy="100584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broken in a way retrying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will not fix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stop with evidence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0" y="2194560"/>
            <a:ext cx="5042915" cy="420624"/>
          </a:xfrm>
          <a:prstGeom prst="line">
            <a:avLst/>
          </a:prstGeom>
          <a:ln w="12700">
            <a:solidFill>
              <a:srgbClr val="D9D7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0" y="1554480"/>
            <a:ext cx="4315968" cy="896112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8251E"/>
                </a:solidFill>
                <a:latin typeface="Helvetica Neue"/>
              </a:rPr>
              <a:t>no watcher matches → </a:t>
            </a:r>
            <a:r>
              <a:rPr sz="1050" b="1">
                <a:solidFill>
                  <a:srgbClr val="A8251E"/>
                </a:solidFill>
                <a:latin typeface="Helvetica Neue"/>
              </a:rPr>
              <a:t>Unknown State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A8251E"/>
                </a:solidFill>
                <a:latin typeface="Helvetica Neue"/>
              </a:rPr>
              <a:t>Escalated when attended, Failed when not. </a:t>
            </a:r>
            <a:r>
              <a:rPr sz="1050" b="1">
                <a:solidFill>
                  <a:srgbClr val="A8251E"/>
                </a:solidFill>
                <a:latin typeface="Helvetica Neue"/>
              </a:rPr>
              <a:t>Never guessed through.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297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7676"/>
                </a:solidFill>
                <a:latin typeface="Helvetica Neue"/>
              </a:rPr>
              <a:t>The test is </a:t>
            </a:r>
            <a:r>
              <a:rPr sz="1050" b="1">
                <a:solidFill>
                  <a:srgbClr val="767676"/>
                </a:solidFill>
                <a:latin typeface="Helvetica Neue"/>
              </a:rPr>
              <a:t>who can act</a:t>
            </a:r>
            <a:r>
              <a:rPr sz="1050" b="0">
                <a:solidFill>
                  <a:srgbClr val="767676"/>
                </a:solidFill>
                <a:latin typeface="Helvetica Neue"/>
              </a:rPr>
              <a:t>: the system alone, a person during the run, or nobody in time.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4709160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48646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The caller receives exactly one Run 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23036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7450"/>
                </a:solidFill>
                <a:latin typeface="Helvetica Neue"/>
              </a:rPr>
              <a:t>Succeeded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50592" y="523036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7450"/>
                </a:solidFill>
                <a:latin typeface="Helvetica Neue"/>
              </a:rPr>
              <a:t>Business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523036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8251E"/>
                </a:solidFill>
                <a:latin typeface="Helvetica Neue"/>
              </a:rPr>
              <a:t>Failed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23036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67676"/>
                </a:solidFill>
                <a:latin typeface="Helvetica Neue"/>
              </a:rPr>
              <a:t>Aborted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523036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8251E"/>
                </a:solidFill>
                <a:latin typeface="Helvetica Neue"/>
              </a:rPr>
              <a:t>Refused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85248" y="523036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6B06"/>
                </a:solidFill>
                <a:latin typeface="Helvetica Neue"/>
              </a:rPr>
              <a:t>Outcome Unknown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760720"/>
            <a:ext cx="110642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Outcome Unknown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means a consequential action was performed but its effect could never be confirmed — the one result that says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do not retry, a person must look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. The verification check exists so the system looks instead of clicking again.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docs/error-taxonomy.md · cua/engine.py::_handle_surprise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251E"/>
                </a:solidFill>
                <a:latin typeface="Helvetica Neue"/>
              </a:rPr>
              <a:t>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Who decides what the automation may do?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2560320" cy="402336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10312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67676"/>
                </a:solidFill>
                <a:latin typeface="Helvetica Neue"/>
              </a:rPr>
              <a:t>the provider (us)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78608"/>
            <a:ext cx="2560320" cy="1170432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4 allowed actions, 9 named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and denied. Schemes, denied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route keywords, hard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7947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B5FD9"/>
                </a:solidFill>
                <a:latin typeface="Menlo"/>
              </a:rPr>
              <a:t>config/baseline.yaml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5536" y="1700784"/>
            <a:ext cx="301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645920"/>
            <a:ext cx="2560320" cy="402336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10312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67676"/>
                </a:solidFill>
                <a:latin typeface="Helvetica Neue"/>
              </a:rPr>
              <a:t>per vendor app,
written before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2578608"/>
            <a:ext cx="2560320" cy="1170432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pages · action types · secrets ·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may it act consequentially ·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which service account.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37947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96B06"/>
                </a:solidFill>
                <a:latin typeface="Menlo"/>
              </a:rPr>
              <a:t>config/roles/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896" y="1700784"/>
            <a:ext cx="301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1645920"/>
            <a:ext cx="2560320" cy="402336"/>
          </a:xfrm>
          <a:prstGeom prst="roundRect">
            <a:avLst>
              <a:gd name="adj" fmla="val 10000"/>
            </a:avLst>
          </a:prstGeom>
          <a:solidFill>
            <a:srgbClr val="1B7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Tenant grant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10312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67676"/>
                </a:solidFill>
                <a:latin typeface="Helvetica Neue"/>
              </a:rPr>
              <a:t>the institution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578608"/>
            <a:ext cx="2560320" cy="1170432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which roles it grants at all,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its origin, its environment tag,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any further narrowing.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7947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7450"/>
                </a:solidFill>
                <a:latin typeface="Menlo"/>
              </a:rPr>
              <a:t>config/policies/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5" y="1700784"/>
            <a:ext cx="301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8007" y="1645920"/>
            <a:ext cx="2560320" cy="402336"/>
          </a:xfrm>
          <a:prstGeom prst="roundRect">
            <a:avLst>
              <a:gd name="adj" fmla="val 10000"/>
            </a:avLst>
          </a:prstGeom>
          <a:solidFill>
            <a:srgbClr val="A82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Needs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5" y="210312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67676"/>
                </a:solidFill>
                <a:latin typeface="Helvetica Neue"/>
              </a:rPr>
              <a:t>derived from the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08007" y="2578608"/>
            <a:ext cx="2560320" cy="1170432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the pages, actions and secrets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the discovery run actually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Helvetica Neue"/>
              </a:rPr>
              <a:t>used. Replay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5" y="37947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251E"/>
                </a:solidFill>
                <a:latin typeface="Menlo"/>
              </a:rPr>
              <a:t>in the artifact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3898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7676"/>
                </a:solidFill>
                <a:latin typeface="Helvetica Neue"/>
              </a:rPr>
              <a:t>Four files, four different owners — and each layer can only </a:t>
            </a:r>
            <a:r>
              <a:rPr sz="1050" b="1">
                <a:solidFill>
                  <a:srgbClr val="767676"/>
                </a:solidFill>
                <a:latin typeface="Helvetica Neue"/>
              </a:rPr>
              <a:t>narrow</a:t>
            </a:r>
            <a:r>
              <a:rPr sz="1050" b="0">
                <a:solidFill>
                  <a:srgbClr val="767676"/>
                </a:solidFill>
                <a:latin typeface="Helvetica Neue"/>
              </a:rPr>
              <a:t> the one before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24528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Refused at the front door, before a browser opens.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bank_b does not grant `account_opener`, so the same artifact that works for bank_a is refused — and the refusal names the layer that refused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224528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Enforced on every request the browser makes.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 check before we act cannot see a request the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page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starts. `/leaky` renders a 1×1 image pointing off-origin with member data in the query string. Nobody clicks; the allowlist aborts it anyway.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321808"/>
            <a:ext cx="11064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The least-privilege chain ends in a real login.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Service Account follows from the Role, so the credential is a consequence of the capability's intent. A `balance_reader` signs in as `svc_read`, which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the bank application itself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refuses when it reaches the sub-account form — so the guarantee survives every layer above it failing. Consequential actions additionally need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two named reviewers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cua/policy.py · ADR 0005 — effective permissions = Baseline ∩ Role ∩ Tenant grant ∩ Needs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251E"/>
                </a:solidFill>
                <a:latin typeface="Helvetica Neue"/>
              </a:rPr>
              <a:t>SENSITIVE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How is member data kept out of the model, the logs and the artifact?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Helvetica Neue"/>
              </a:rPr>
              <a:t>A name is just words; a birthday is just digits. </a:t>
            </a:r>
            <a:r>
              <a:rPr sz="1100" b="1">
                <a:solidFill>
                  <a:srgbClr val="1A1A1A"/>
                </a:solidFill>
                <a:latin typeface="Helvetica Neue"/>
              </a:rPr>
              <a:t>No pattern can find them.</a:t>
            </a:r>
            <a:r>
              <a:rPr sz="1100" b="0">
                <a:solidFill>
                  <a:srgbClr val="1A1A1A"/>
                </a:solidFill>
                <a:latin typeface="Helvetica Neue"/>
              </a:rPr>
              <a:t> So the first test is not what a value looks like — it is where it came from.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24612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 value on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423160"/>
            <a:ext cx="0" cy="128016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" y="2523744"/>
            <a:ext cx="324612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6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is it a password?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136391"/>
            <a:ext cx="0" cy="128017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67912" y="2816351"/>
            <a:ext cx="521208" cy="0"/>
          </a:xfrm>
          <a:prstGeom prst="line">
            <a:avLst/>
          </a:prstGeom>
          <a:ln w="15875">
            <a:solidFill>
              <a:srgbClr val="A825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62272" y="263347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251E"/>
                </a:solidFill>
                <a:latin typeface="Helvetica Neue"/>
              </a:rPr>
              <a:t>yes → (protected)   never read at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6976"/>
            <a:ext cx="324612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6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is its Target a declared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Readable Region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3849624"/>
            <a:ext cx="0" cy="128015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67912" y="3529584"/>
            <a:ext cx="521208" cy="0"/>
          </a:xfrm>
          <a:prstGeom prst="line">
            <a:avLst/>
          </a:prstGeom>
          <a:ln w="15875">
            <a:solidFill>
              <a:srgbClr val="A825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62272" y="334670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251E"/>
                </a:solidFill>
                <a:latin typeface="Helvetica Neue"/>
              </a:rPr>
              <a:t>no → (hidden)   catches names, birthdays, and
every field nobody has thought about yet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324612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pattern net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ssn · card · email · phone · date · money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94560" y="4562856"/>
            <a:ext cx="0" cy="128016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6928" y="4663440"/>
            <a:ext cx="3246120" cy="585216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 w="12700">
            <a:solidFill>
              <a:srgbClr val="1B7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7450"/>
                </a:solidFill>
                <a:latin typeface="Helvetica Neue"/>
              </a:rPr>
              <a:t>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44475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Every channel out, and what it guarantees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828800"/>
            <a:ext cx="4224528" cy="53035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1874519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Helvetica Neue"/>
              </a:rPr>
              <a:t>evidence and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2066543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only identifiers </a:t>
            </a:r>
            <a:r>
              <a:rPr sz="900" b="1">
                <a:solidFill>
                  <a:srgbClr val="767676"/>
                </a:solidFill>
                <a:latin typeface="Helvetica Neue"/>
              </a:rPr>
              <a:t>we</a:t>
            </a:r>
            <a:r>
              <a:rPr sz="900" b="0">
                <a:solidFill>
                  <a:srgbClr val="767676"/>
                </a:solidFill>
                <a:latin typeface="Helvetica Neue"/>
              </a:rPr>
              <a:t> generated are written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196596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7450"/>
                </a:solidFill>
                <a:latin typeface="Helvetica Neue"/>
              </a:rPr>
              <a:t>total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395728"/>
            <a:ext cx="4224528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24414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Helvetica Neue"/>
              </a:rPr>
              <a:t>artifact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263347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example values became placeholders; a lint enforces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253288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7450"/>
                </a:solidFill>
                <a:latin typeface="Helvetica Neue"/>
              </a:rPr>
              <a:t>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2962656"/>
            <a:ext cx="4224528" cy="53035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300837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Helvetica Neue"/>
              </a:rPr>
              <a:t>secrets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20040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substituted at the keystroke, below the model and the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3099816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7450"/>
                </a:solidFill>
                <a:latin typeface="Helvetica Neue"/>
              </a:rPr>
              <a:t>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529584"/>
            <a:ext cx="4224528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3575303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Helvetica Neue"/>
              </a:rPr>
              <a:t>outputs to the caller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376732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returned in full — they are the answer — masked in the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366674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7450"/>
                </a:solidFill>
                <a:latin typeface="Helvetica Neue"/>
              </a:rPr>
              <a:t>total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4096512"/>
            <a:ext cx="4224528" cy="53035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4142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Helvetica Neue"/>
              </a:rPr>
              <a:t>observation to a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8" y="433425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default-deny by Readable Region, then patterns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423367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7450"/>
                </a:solidFill>
                <a:latin typeface="Helvetica Neue"/>
              </a:rPr>
              <a:t>declared fields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663440"/>
            <a:ext cx="4224528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4709159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Helvetica Neue"/>
              </a:rPr>
              <a:t>watcher extraction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6368" y="4901183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a declared capture group only, never free page 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80060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7450"/>
                </a:solidFill>
                <a:latin typeface="Helvetica Neue"/>
              </a:rPr>
              <a:t>total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5230368"/>
            <a:ext cx="4224528" cy="53035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5276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Helvetica Neue"/>
              </a:rPr>
              <a:t>screenshots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6368" y="54681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cropped, downscaled, declared Sensitive Regions painted black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536752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8251E"/>
                </a:solidFill>
                <a:latin typeface="Helvetica Neue"/>
              </a:rPr>
              <a:t>partial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440680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Helvetica Neue"/>
              </a:rPr>
              <a:t>The two channels take opposite defaults, deliberately.</a:t>
            </a:r>
            <a:r>
              <a:rPr sz="1000" b="0">
                <a:solidFill>
                  <a:srgbClr val="1A1A1A"/>
                </a:solidFill>
                <a:latin typeface="Helvetica Neue"/>
              </a:rPr>
              <a:t> Values are an allowlist — hiding one costs nothing. Pixels are a deny-list — blacking out a control the model must click would blind it. The image channel is the weaker one, and is documented as the residual risk.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cua/redact.py · docs/security-model.md · 17 PII tests, including a name and a birthday no regex could catch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7450"/>
                </a:solidFill>
                <a:latin typeface="Helvetica Neue"/>
              </a:rPr>
              <a:t>HUMAN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What happens when only a person can unblock the run?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enlo"/>
              </a:rPr>
              <a:t>automation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79191" y="2176272"/>
            <a:ext cx="329185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51760" y="223113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pause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5808" y="1874519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enlo"/>
              </a:rPr>
              <a:t>awaiting_operator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48072" y="2176272"/>
            <a:ext cx="329183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0" y="223113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take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4688" y="1874519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1B7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enlo"/>
              </a:rPr>
              <a:t>operator_in_control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16951" y="2176272"/>
            <a:ext cx="329185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9519" y="223113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resume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7" y="1874519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enlo"/>
              </a:rPr>
              <a:t>resuming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85831" y="2176272"/>
            <a:ext cx="329184" cy="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399" y="223113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67676"/>
                </a:solidFill>
                <a:latin typeface="Helvetica Neue"/>
              </a:rPr>
              <a:t>re-orient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42447" y="1874519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enlo"/>
              </a:rPr>
              <a:t>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55448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7676"/>
                </a:solidFill>
                <a:latin typeface="Helvetica Neue"/>
              </a:rPr>
              <a:t>Control is a </a:t>
            </a:r>
            <a:r>
              <a:rPr sz="1050" b="1">
                <a:solidFill>
                  <a:srgbClr val="767676"/>
                </a:solidFill>
                <a:latin typeface="Helvetica Neue"/>
              </a:rPr>
              <a:t>lease</a:t>
            </a:r>
            <a:r>
              <a:rPr sz="1050" b="0">
                <a:solidFill>
                  <a:srgbClr val="767676"/>
                </a:solidFill>
                <a:latin typeface="Helvetica Neue"/>
              </a:rPr>
              <a:t>: one holder at a time, and the illegal moves raise rather than being prevented by convention.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578608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any state may also move to  </a:t>
            </a:r>
            <a:r>
              <a:rPr sz="950" b="1">
                <a:solidFill>
                  <a:srgbClr val="767676"/>
                </a:solidFill>
                <a:latin typeface="Helvetica Neue"/>
              </a:rPr>
              <a:t>done</a:t>
            </a:r>
            <a:r>
              <a:rPr sz="950" b="0">
                <a:solidFill>
                  <a:srgbClr val="767676"/>
                </a:solidFill>
                <a:latin typeface="Helvetica Neue"/>
              </a:rPr>
              <a:t>  — the Operator can abort, and an abort is a Run Result, not a failure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108960"/>
            <a:ext cx="2743200" cy="566928"/>
          </a:xfrm>
          <a:prstGeom prst="roundRect">
            <a:avLst>
              <a:gd name="adj" fmla="val 10000"/>
            </a:avLst>
          </a:prstGeom>
          <a:solidFill>
            <a:srgbClr val="1B7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It is the same 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75887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Operator gets the browser the automation was already using — mid-flow, on the same page — not a fresh 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83864" y="3108960"/>
            <a:ext cx="2743200" cy="566928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They arrive with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83864" y="3675887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An intervention record: the capability, the state, the reason, the URL and a screenshot.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108960"/>
            <a:ext cx="2743200" cy="566928"/>
          </a:xfrm>
          <a:prstGeom prst="roundRect">
            <a:avLst>
              <a:gd name="adj" fmla="val 10000"/>
            </a:avLst>
          </a:prstGeom>
          <a:solidFill>
            <a:srgbClr val="A82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What they did is recorded;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what they typed is not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675887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Decision and whether they navigated are written to the trail. A test greps it for the password.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17736" y="3108960"/>
            <a:ext cx="2743200" cy="566928"/>
          </a:xfrm>
          <a:prstGeom prst="roundRect">
            <a:avLst>
              <a:gd name="adj" fmla="val 10000"/>
            </a:avLst>
          </a:prstGeom>
          <a:solidFill>
            <a:srgbClr val="A96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Resume does not assume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</a:rPr>
              <a:t>they finished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17736" y="3675887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engine asks which checkpoint holds. An Operator who wandered off gets resume_checkpoint_missed, not a run carrying on in the wrong place.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34924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Escalations are bounded at two per state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, so escalate → resume → escalate cannot keep a person answering the same question forever — the third time is a Run Result, not another interruption. And the Operator is the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only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human who ever touches a live session: a Reviewer reads redacted evidence, afterwards (ADR 0002).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cua/handoff.py · cua/engine.py::_hand_over · tests/test_handoff.py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5FD9"/>
                </a:solidFill>
                <a:latin typeface="Helvetica Neue"/>
              </a:rPr>
              <a:t>MULTI-TENANT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How does one recording serve banks that look different?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60020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Artifact  member.open_sub_account@1.0.0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</a:rPr>
              <a:t>recorded at First Credit Union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749039" y="2542032"/>
            <a:ext cx="1371601" cy="612648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2542032"/>
            <a:ext cx="1371600" cy="612648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1680" y="3200400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7450"/>
                </a:solidFill>
                <a:latin typeface="Helvetica Neue"/>
              </a:rPr>
              <a:t>First Credit Union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100" b="1">
                <a:solidFill>
                  <a:srgbClr val="1B7450"/>
                </a:solidFill>
                <a:latin typeface="Helvetica Neue"/>
              </a:rPr>
              <a:t>runs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200400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6B06"/>
                </a:solidFill>
                <a:latin typeface="Helvetica Neue"/>
              </a:rPr>
              <a:t>Lakeside Savings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100" b="1">
                <a:solidFill>
                  <a:srgbClr val="A96B06"/>
                </a:solidFill>
                <a:latin typeface="Helvetica Neue"/>
              </a:rPr>
              <a:t>same product, rebranded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187952"/>
            <a:ext cx="32918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6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Helvetica Neue"/>
              </a:rPr>
              <a:t>+ Tenant Overlay  (20 lines)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“Member number” → “Find member by #”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the search icon moved to the </a:t>
            </a:r>
            <a:r>
              <a:rPr sz="950" b="1">
                <a:solidFill>
                  <a:srgbClr val="1A1A1A"/>
                </a:solidFill>
                <a:latin typeface="Helvetica Neue"/>
              </a:rPr>
              <a:t>left</a:t>
            </a:r>
            <a:r>
              <a:rPr sz="950" b="0">
                <a:solidFill>
                  <a:srgbClr val="1A1A1A"/>
                </a:solidFill>
                <a:latin typeface="Helvetica Neue"/>
              </a:rPr>
              <a:t>, so its rung needs relation `nearest`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“Open” → “Create”,  “Continue” → “Submit”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4059936"/>
            <a:ext cx="0" cy="91440"/>
          </a:xfrm>
          <a:prstGeom prst="line">
            <a:avLst/>
          </a:prstGeom>
          <a:ln w="1587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4187952"/>
            <a:ext cx="5989320" cy="1298448"/>
          </a:xfrm>
          <a:prstGeom prst="roundRect">
            <a:avLst>
              <a:gd name="adj" fmla="val 1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Without the overlay it fails honestly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, at the first checkpoint, with unknown_state — because the field is called something else there. It does not guess its way forward.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23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An overlay may change how things look, never how the capability behaves.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Origin, labels, anchors, positions, timeouts — yes. Transitions, contract or safety policy — refused by the lint before the browser opens. If a tenant needs different behaviour, that is a different artifact.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overlays/lakeside.yaml · cua/overlay.py · tools/demo_b2.py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5FD9"/>
                </a:solidFill>
                <a:latin typeface="Helvetica Neue"/>
              </a:rPr>
              <a:t>THEN AND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What changed from the original sketch — and why?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67676"/>
                </a:solidFill>
                <a:latin typeface="Helvetica Neue"/>
              </a:rPr>
              <a:t>ORIGINAL SKETCH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4475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5FD9"/>
                </a:solidFill>
                <a:latin typeface="Helvetica Neue"/>
              </a:rPr>
              <a:t>WHAT IT BECAME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11064240" cy="71323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7676"/>
                </a:solidFill>
                <a:latin typeface="Helvetica Neue"/>
              </a:rPr>
              <a:t>Record → LLM schema → replay contract → </a:t>
            </a:r>
            <a:r>
              <a:rPr sz="1050" b="1">
                <a:solidFill>
                  <a:srgbClr val="767676"/>
                </a:solidFill>
                <a:latin typeface="Helvetica Neue"/>
              </a:rPr>
              <a:t>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25312" y="2048255"/>
            <a:ext cx="310896" cy="0"/>
          </a:xfrm>
          <a:prstGeom prst="line">
            <a:avLst/>
          </a:prstGeom>
          <a:ln w="15875">
            <a:solidFill>
              <a:srgbClr val="2B5F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5080" y="1773936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The recording stays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data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. Generated code could express anything; an artifact can only name things the engine already holds, so guarantees cannot be bypassed.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7676"/>
                </a:solidFill>
                <a:latin typeface="Helvetica Neue"/>
              </a:rPr>
              <a:t>“All checked against guardrails / policies” — one gate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25312" y="2798063"/>
            <a:ext cx="310896" cy="0"/>
          </a:xfrm>
          <a:prstGeom prst="line">
            <a:avLst/>
          </a:prstGeom>
          <a:ln w="15875">
            <a:solidFill>
              <a:srgbClr val="2B5F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2523744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Four layers with four owners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, intersected: Baseline ∩ Role ∩ Tenant grant ∩ Needs. Plus interception of every request the page itself starts.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00399"/>
            <a:ext cx="11064240" cy="71323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10127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7676"/>
                </a:solidFill>
                <a:latin typeface="Helvetica Neue"/>
              </a:rPr>
              <a:t>“Credential and PII need to be redacted”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25312" y="3547871"/>
            <a:ext cx="310896" cy="0"/>
          </a:xfrm>
          <a:prstGeom prst="line">
            <a:avLst/>
          </a:prstGeom>
          <a:ln w="15875">
            <a:solidFill>
              <a:srgbClr val="2B5F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55080" y="3273551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Redaction is decided by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origin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, not by pattern — default-deny by Readable Region, because no regex finds a name. Patterns are the second net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59935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7676"/>
                </a:solidFill>
                <a:latin typeface="Helvetica Neue"/>
              </a:rPr>
              <a:t>Error-handling table, “needs work”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25312" y="4297680"/>
            <a:ext cx="310896" cy="0"/>
          </a:xfrm>
          <a:prstGeom prst="line">
            <a:avLst/>
          </a:prstGeom>
          <a:ln w="15875">
            <a:solidFill>
              <a:srgbClr val="2B5F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55080" y="4023359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Helvetica Neue"/>
              </a:rPr>
              <a:t>Four Conditions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by who can act,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six Run Results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, and Watchers carrying provenance. Unknown State is never guessed through.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700016"/>
            <a:ext cx="11064240" cy="71323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09743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7676"/>
                </a:solidFill>
                <a:latin typeface="Helvetica Neue"/>
              </a:rPr>
              <a:t>Human-in-the-loop, listed per exception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25312" y="5047488"/>
            <a:ext cx="310896" cy="0"/>
          </a:xfrm>
          <a:prstGeom prst="line">
            <a:avLst/>
          </a:prstGeom>
          <a:ln w="15875">
            <a:solidFill>
              <a:srgbClr val="2B5F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55080" y="4773167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One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control lease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with declared transitions, on the live session, bounded at two escalations per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59551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7676"/>
                </a:solidFill>
                <a:latin typeface="Helvetica Neue"/>
              </a:rPr>
              <a:t>state / action / transition, from the PreAct paper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25312" y="5797296"/>
            <a:ext cx="310896" cy="0"/>
          </a:xfrm>
          <a:prstGeom prst="line">
            <a:avLst/>
          </a:prstGeom>
          <a:ln w="15875">
            <a:solidFill>
              <a:srgbClr val="2B5F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55080" y="5522975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Helvetica Neue"/>
              </a:rPr>
              <a:t>Kept — plus a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Checkpoint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on every state, a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Target ladder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per control, and a </a:t>
            </a:r>
            <a:r>
              <a:rPr sz="1050" b="1">
                <a:solidFill>
                  <a:srgbClr val="1A1A1A"/>
                </a:solidFill>
                <a:latin typeface="Helvetica Neue"/>
              </a:rPr>
              <a:t>Verification Check</a:t>
            </a:r>
            <a:r>
              <a:rPr sz="1050" b="0">
                <a:solidFill>
                  <a:srgbClr val="1A1A1A"/>
                </a:solidFill>
                <a:latin typeface="Helvetica Neue"/>
              </a:rPr>
              <a:t> on every consequential edge.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The sequence of the discovery loop, and the state/action/transition shape, survived the build unchanged.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7450"/>
                </a:solidFill>
                <a:latin typeface="Helvetica Neue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Helvetica Neue"/>
              </a:rPr>
              <a:t>What is proven, and what is not?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39" cy="0"/>
          </a:xfrm>
          <a:prstGeom prst="line">
            <a:avLst/>
          </a:prstGeom>
          <a:ln w="12700">
            <a:solidFill>
              <a:srgbClr val="D9D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7450"/>
                </a:solidFill>
                <a:latin typeface="Helvetica Neue"/>
              </a:rPr>
              <a:t>PROVEN ON A REAL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92807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7450"/>
                </a:solidFill>
                <a:latin typeface="Helvetica Neue"/>
              </a:rPr>
              <a:t>98 tests, no mocking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Scenario tests run against the live Flask app: the member number selects the scenario, so a test reads “replay 99999, expect MEMBER_NOT_FOUND”.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26080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08376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7450"/>
                </a:solidFill>
                <a:latin typeface="Helvetica Neue"/>
              </a:rPr>
              <a:t>A real discovery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36976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13 turns, goal reached, outputs correct. The model signed in with secrets it never saw, found the unlabelled icon by anchor, dismissed an interstitial itself, and read a value out of an iframe.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41648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23944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7450"/>
                </a:solidFill>
                <a:latin typeface="Helvetica Neue"/>
              </a:rPr>
              <a:t>The discovered artifact replays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5254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It passes the same 8 scenarios as the hand-written one — and the approval gate refused it three times first, each refusal a real defect.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57216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E3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3951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7450"/>
                </a:solidFill>
                <a:latin typeface="Helvetica Neue"/>
              </a:rPr>
              <a:t>Two architectural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6811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No module in cua/ imports a model SDK. Nothing but surface.py imports Playwright. Both are enforced by tests.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4630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8251E"/>
                </a:solidFill>
                <a:latin typeface="Helvetica Neue"/>
              </a:rPr>
              <a:t>KNOWN GAPS, NAMED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810512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92807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251E"/>
                </a:solidFill>
                <a:latin typeface="Helvetica Neue"/>
              </a:rPr>
              <a:t>Masking is off during discovery — on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21408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The demo app holds synthetic members, so masking there protects nothing and can only cost accuracy. Built and tested; switching it on is a flag, and belongs with the first environment that may hold real data. Replay evidence has been masked throughout.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2926080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08376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251E"/>
                </a:solidFill>
                <a:latin typeface="Helvetica Neue"/>
              </a:rPr>
              <a:t>Screenshots are a deny-list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36976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The one channel with a partial guarantee, and recorded as the residual risk.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4041648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123944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251E"/>
                </a:solidFill>
                <a:latin typeface="Helvetica Neue"/>
              </a:rPr>
              <a:t>One held-out condition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5254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MAX_ACCOUNTS_REACHED (member 33333) is deliberately unhandled: it stays failed-with-unknown-state, and the verification check confirms the commit did not take effect.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5157216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23951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251E"/>
                </a:solidFill>
                <a:latin typeface="Helvetica Neue"/>
              </a:rPr>
              <a:t>One order-dependent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46811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Helvetica Neue"/>
              </a:rPr>
              <a:t>The operator-handoff test passes alone and fails in the full suite — the session-expiry scenario fires once per member, and an earlier test consumes it. A fixture issue, not an engine one, but it is not fixed yet.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367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67676"/>
                </a:solidFill>
                <a:latin typeface="Helvetica Neue"/>
              </a:rPr>
              <a:t>NOTES.md carries the full build log: what broke, why, and what changed as a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